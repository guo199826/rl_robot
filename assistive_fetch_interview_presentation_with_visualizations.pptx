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8" r:id="rId19"/>
    <p:sldId id="269" r:id="rId20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300">
                <a:latin typeface="Microsoft YaHei"/>
              </a:defRPr>
            </a:pPr>
            <a:r>
              <a:t>成功率对比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model+assist</c:v>
                </c:pt>
              </c:strCache>
            </c:strRef>
          </c:tx>
          <c:spPr>
            <a:solidFill>
              <a:srgbClr val="199191"/>
            </a:solidFill>
            <a:ln>
              <a:solidFill>
                <a:srgbClr val="199191"/>
              </a:solidFill>
            </a:ln>
          </c:spPr>
          <c:cat>
            <c:strRef>
              <c:f>Sheet1!$A$2:$A$3</c:f>
              <c:strCache>
                <c:ptCount val="2"/>
                <c:pt idx="0">
                  <c:v>V3 任务性能优先</c:v>
                </c:pt>
                <c:pt idx="1">
                  <c:v>V5 平滑正则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0.84</c:v>
                </c:pt>
                <c:pt idx="1">
                  <c:v>0.7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human-only</c:v>
                </c:pt>
              </c:strCache>
            </c:strRef>
          </c:tx>
          <c:spPr>
            <a:solidFill>
              <a:srgbClr val="E6842D"/>
            </a:solidFill>
            <a:ln>
              <a:solidFill>
                <a:srgbClr val="E6842D"/>
              </a:solidFill>
            </a:ln>
          </c:spPr>
          <c:cat>
            <c:strRef>
              <c:f>Sheet1!$A$2:$A$3</c:f>
              <c:strCache>
                <c:ptCount val="2"/>
                <c:pt idx="0">
                  <c:v>V3 任务性能优先</c:v>
                </c:pt>
                <c:pt idx="1">
                  <c:v>V5 平滑正则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0.12</c:v>
                </c:pt>
                <c:pt idx="1">
                  <c:v>0.2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</c:scaling>
        <c:delete val="0"/>
        <c:axPos val="l"/>
        <c:majorGridlines>
          <c:spPr>
            <a:ln>
              <a:solidFill>
                <a:srgbClr val="E1E7ED"/>
              </a:solidFill>
            </a:ln>
          </c:spPr>
        </c:majorGridlines>
        <c:numFmt formatCode="0%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300">
                <a:latin typeface="Microsoft YaHei"/>
              </a:defRPr>
            </a:pPr>
            <a:r>
              <a:t>最终目标距离（m，越低越好）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model+assist</c:v>
                </c:pt>
              </c:strCache>
            </c:strRef>
          </c:tx>
          <c:spPr>
            <a:solidFill>
              <a:srgbClr val="199191"/>
            </a:solidFill>
            <a:ln>
              <a:solidFill>
                <a:srgbClr val="199191"/>
              </a:solidFill>
            </a:ln>
          </c:spPr>
          <c:cat>
            <c:strRef>
              <c:f>Sheet1!$A$2:$A$3</c:f>
              <c:strCache>
                <c:ptCount val="2"/>
                <c:pt idx="0">
                  <c:v>V3 任务性能优先</c:v>
                </c:pt>
                <c:pt idx="1">
                  <c:v>V5 平滑正则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0.035</c:v>
                </c:pt>
                <c:pt idx="1">
                  <c:v>0.0528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human-only</c:v>
                </c:pt>
              </c:strCache>
            </c:strRef>
          </c:tx>
          <c:spPr>
            <a:solidFill>
              <a:srgbClr val="E6842D"/>
            </a:solidFill>
            <a:ln>
              <a:solidFill>
                <a:srgbClr val="E6842D"/>
              </a:solidFill>
            </a:ln>
          </c:spPr>
          <c:cat>
            <c:strRef>
              <c:f>Sheet1!$A$2:$A$3</c:f>
              <c:strCache>
                <c:ptCount val="2"/>
                <c:pt idx="0">
                  <c:v>V3 任务性能优先</c:v>
                </c:pt>
                <c:pt idx="1">
                  <c:v>V5 平滑正则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0.1249</c:v>
                </c:pt>
                <c:pt idx="1">
                  <c:v>0.1081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15"/>
        </c:scaling>
        <c:delete val="0"/>
        <c:axPos val="l"/>
        <c:majorGridlines>
          <c:spPr>
            <a:ln>
              <a:solidFill>
                <a:srgbClr val="E1E7ED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gif"/><Relationship Id="rId3" Type="http://schemas.openxmlformats.org/officeDocument/2006/relationships/hyperlink" Target="/home/guo.yu/private/RL_robot/logs/assistive_fetch/visualizations/v3_assist_vs_human.mp4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gif"/><Relationship Id="rId3" Type="http://schemas.openxmlformats.org/officeDocument/2006/relationships/hyperlink" Target="/home/guo.yu/private/RL_robot/logs/assistive_fetch/visualizations/v5_assist_vs_human.mp4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2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9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051560"/>
            <a:ext cx="10424160" cy="1463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Microsoft YaHei"/>
              </a:rPr>
              <a:t>基于共享控制与深度强化学习的
FetchPush 辅助操作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2761488"/>
            <a:ext cx="640080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B7DBDA"/>
                </a:solidFill>
                <a:latin typeface="Microsoft YaHei"/>
              </a:rPr>
              <a:t>运动控制算法岗位 · 项目技术汇报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3401568"/>
            <a:ext cx="8138160" cy="9601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Microsoft YaHei"/>
              </a:rPr>
              <a:t>规则控制器提供人类意图，SAC 学习受限幅值的辅助动作；
通过状态机、奖励塑形和定量评估实现可靠共享控制。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3063240"/>
            <a:ext cx="2331720" cy="1554480"/>
          </a:xfrm>
          <a:prstGeom prst="roundRect">
            <a:avLst/>
          </a:prstGeom>
          <a:solidFill>
            <a:srgbClr val="20334B"/>
          </a:solidFill>
          <a:ln w="12700">
            <a:solidFill>
              <a:srgbClr val="415B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89720" y="3300984"/>
            <a:ext cx="1874519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3000" b="1">
                <a:solidFill>
                  <a:srgbClr val="63D7CB"/>
                </a:solidFill>
                <a:latin typeface="Microsoft YaHei"/>
              </a:rPr>
              <a:t>84%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89720" y="3913632"/>
            <a:ext cx="1874519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最佳辅助成功率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6144768"/>
            <a:ext cx="52120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B5C0CC"/>
                </a:solidFill>
                <a:latin typeface="Microsoft YaHei"/>
              </a:rPr>
              <a:t>候选人：________    日期：2026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23774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99191"/>
                </a:solidFill>
                <a:latin typeface="Microsoft YaHei"/>
              </a:rPr>
              <a:t>01 /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142236"/>
                </a:solidFill>
                <a:latin typeface="Microsoft YaHei"/>
              </a:rPr>
              <a:t>项目问题：让机器人“辅助”，而不是“接管”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78408"/>
            <a:ext cx="914400" cy="45720"/>
          </a:xfrm>
          <a:prstGeom prst="rect">
            <a:avLst/>
          </a:prstGeom>
          <a:solidFill>
            <a:srgbClr val="19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00200" y="914400"/>
            <a:ext cx="97840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6F7D8C"/>
                </a:solidFill>
                <a:latin typeface="Microsoft YaHei"/>
              </a:rPr>
              <a:t>FetchPush-v4 · 连续控制 · 人机共享控制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3429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73152" cy="1828800"/>
          </a:xfrm>
          <a:prstGeom prst="rect">
            <a:avLst/>
          </a:prstGeom>
          <a:solidFill>
            <a:srgbClr val="19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453895"/>
            <a:ext cx="31089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142236"/>
                </a:solidFill>
                <a:latin typeface="Microsoft YaHei"/>
              </a:rPr>
              <a:t>任务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1856231"/>
            <a:ext cx="3108960" cy="11887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0">
                <a:solidFill>
                  <a:srgbClr val="1F2933"/>
                </a:solidFill>
                <a:latin typeface="Microsoft YaHei"/>
              </a:rPr>
              <a:t>机械臂末端推动立方体到随机目标位置；每回合 50 steps，成功阈值为目标距离 &lt; 0.05 m。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1325880"/>
            <a:ext cx="3429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60520" y="1325880"/>
            <a:ext cx="73152" cy="1828800"/>
          </a:xfrm>
          <a:prstGeom prst="rect">
            <a:avLst/>
          </a:prstGeom>
          <a:solidFill>
            <a:srgbClr val="E6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61688" y="1453895"/>
            <a:ext cx="31089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142236"/>
                </a:solidFill>
                <a:latin typeface="Microsoft YaHei"/>
              </a:rPr>
              <a:t>输入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1688" y="1856231"/>
            <a:ext cx="3108960" cy="11887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0">
                <a:solidFill>
                  <a:srgbClr val="1F2933"/>
                </a:solidFill>
                <a:latin typeface="Microsoft YaHei"/>
              </a:rPr>
              <a:t>启发式 human intent controller 给出基础动作；RL agent 只学习幅值受限的 assist action。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18120" y="1325880"/>
            <a:ext cx="3429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818120" y="1325880"/>
            <a:ext cx="73152" cy="1828800"/>
          </a:xfrm>
          <a:prstGeom prst="rect">
            <a:avLst/>
          </a:prstGeom>
          <a:solidFill>
            <a:srgbClr val="378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19288" y="1453895"/>
            <a:ext cx="31089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142236"/>
                </a:solidFill>
                <a:latin typeface="Microsoft YaHei"/>
              </a:rPr>
              <a:t>目标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19288" y="1856231"/>
            <a:ext cx="3108960" cy="11887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0">
                <a:solidFill>
                  <a:srgbClr val="1F2933"/>
                </a:solidFill>
                <a:latin typeface="Microsoft YaHei"/>
              </a:rPr>
              <a:t>提高成功率、缩短最终距离，同时控制辅助努力和动作变化率，保持人类主导。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547872"/>
            <a:ext cx="27432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142236"/>
                </a:solidFill>
                <a:latin typeface="Microsoft YaHei"/>
              </a:rPr>
              <a:t>三个核心挑战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096512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20" name="Oval 19"/>
          <p:cNvSpPr/>
          <p:nvPr/>
        </p:nvSpPr>
        <p:spPr>
          <a:xfrm>
            <a:off x="594360" y="4069080"/>
            <a:ext cx="457200" cy="457200"/>
          </a:xfrm>
          <a:prstGeom prst="ellipse">
            <a:avLst/>
          </a:prstGeom>
          <a:solidFill>
            <a:srgbClr val="19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050791"/>
            <a:ext cx="2788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42236"/>
                </a:solidFill>
                <a:latin typeface="Microsoft YaHei"/>
              </a:rPr>
              <a:t>接触前规划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645152"/>
            <a:ext cx="3383280" cy="10515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>
                <a:solidFill>
                  <a:srgbClr val="1F2933"/>
                </a:solidFill>
                <a:latin typeface="Microsoft YaHei"/>
              </a:rPr>
              <a:t>末端必须先到物体后方并下降到合适高度，避免从上方/侧面撞击。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4096512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24" name="Oval 23"/>
          <p:cNvSpPr/>
          <p:nvPr/>
        </p:nvSpPr>
        <p:spPr>
          <a:xfrm>
            <a:off x="4297680" y="4069080"/>
            <a:ext cx="457200" cy="457200"/>
          </a:xfrm>
          <a:prstGeom prst="ellipse">
            <a:avLst/>
          </a:prstGeom>
          <a:solidFill>
            <a:srgbClr val="19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4050791"/>
            <a:ext cx="2788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42236"/>
                </a:solidFill>
                <a:latin typeface="Microsoft YaHei"/>
              </a:rPr>
              <a:t>有限时域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4645152"/>
            <a:ext cx="3383280" cy="10515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>
                <a:solidFill>
                  <a:srgbClr val="1F2933"/>
                </a:solidFill>
                <a:latin typeface="Microsoft YaHei"/>
              </a:rPr>
              <a:t>50 steps 内完成 lift → approach → descend → push，前置阶段过慢会挤压推物时间。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4096512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8" name="Oval 27"/>
          <p:cNvSpPr/>
          <p:nvPr/>
        </p:nvSpPr>
        <p:spPr>
          <a:xfrm>
            <a:off x="8001000" y="4069080"/>
            <a:ext cx="457200" cy="457200"/>
          </a:xfrm>
          <a:prstGeom prst="ellipse">
            <a:avLst/>
          </a:prstGeom>
          <a:solidFill>
            <a:srgbClr val="19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0" y="4050791"/>
            <a:ext cx="2788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42236"/>
                </a:solidFill>
                <a:latin typeface="Microsoft YaHei"/>
              </a:rPr>
              <a:t>学习稳定性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1000" y="4645152"/>
            <a:ext cx="3383280" cy="10515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>
                <a:solidFill>
                  <a:srgbClr val="1F2933"/>
                </a:solidFill>
                <a:latin typeface="Microsoft YaHei"/>
              </a:rPr>
              <a:t>稀疏成功、随机初始状态、动作高频抖动会导致价值估计和控制品质不稳定。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528816"/>
            <a:ext cx="9966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0">
                <a:solidFill>
                  <a:srgbClr val="6F7D8C"/>
                </a:solidFill>
                <a:latin typeface="Microsoft YaHei"/>
              </a:rPr>
              <a:t>Source: assistive_fetch/fetch_push_wrapper.py · Gymnasium Robotics FetchPush-v4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6F7D8C"/>
                </a:solidFill>
                <a:latin typeface="Microsoft Ya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23774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99191"/>
                </a:solidFill>
                <a:latin typeface="Microsoft YaHei"/>
              </a:rPr>
              <a:t>02 /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142236"/>
                </a:solidFill>
                <a:latin typeface="Microsoft YaHei"/>
              </a:rPr>
              <a:t>共享控制闭环：规则意图 + 学习辅助 + 物理反馈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78408"/>
            <a:ext cx="914400" cy="45720"/>
          </a:xfrm>
          <a:prstGeom prst="rect">
            <a:avLst/>
          </a:prstGeom>
          <a:solidFill>
            <a:srgbClr val="19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00200" y="914400"/>
            <a:ext cx="97840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6F7D8C"/>
                </a:solidFill>
                <a:latin typeface="Microsoft YaHei"/>
              </a:rPr>
              <a:t>Agent 不直接替代 human，而是在动作空间中做有界修正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1828800" cy="1234440"/>
          </a:xfrm>
          <a:prstGeom prst="roundRect">
            <a:avLst/>
          </a:prstGeom>
          <a:solidFill>
            <a:srgbClr val="DDF2F0"/>
          </a:solidFill>
          <a:ln w="12700">
            <a:solidFill>
              <a:srgbClr val="19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2231136"/>
            <a:ext cx="1609344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142236"/>
                </a:solidFill>
                <a:latin typeface="Microsoft YaHei"/>
              </a:rPr>
              <a:t>环境状态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578608"/>
            <a:ext cx="1609344" cy="6675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50" b="0">
                <a:solidFill>
                  <a:srgbClr val="1F2933"/>
                </a:solidFill>
                <a:latin typeface="Microsoft YaHei"/>
              </a:rPr>
              <a:t>gripper / object /
goal / velocity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2103120"/>
            <a:ext cx="1828800" cy="1234440"/>
          </a:xfrm>
          <a:prstGeom prst="roundRect">
            <a:avLst/>
          </a:prstGeom>
          <a:solidFill>
            <a:srgbClr val="FBEBDA"/>
          </a:solidFill>
          <a:ln w="12700">
            <a:solidFill>
              <a:srgbClr val="E684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52928" y="2231136"/>
            <a:ext cx="1609344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142236"/>
                </a:solidFill>
                <a:latin typeface="Microsoft YaHei"/>
              </a:rPr>
              <a:t>Human Intent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52928" y="2578608"/>
            <a:ext cx="1609344" cy="6675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50" b="0">
                <a:solidFill>
                  <a:srgbClr val="1F2933"/>
                </a:solidFill>
                <a:latin typeface="Microsoft YaHei"/>
              </a:rPr>
              <a:t>4-stage 状态机
解析式 P 控制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83480" y="2103120"/>
            <a:ext cx="1828800" cy="1234440"/>
          </a:xfrm>
          <a:prstGeom prst="roundRect">
            <a:avLst/>
          </a:prstGeom>
          <a:solidFill>
            <a:srgbClr val="DDF2F0"/>
          </a:solidFill>
          <a:ln w="12700">
            <a:solidFill>
              <a:srgbClr val="19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93208" y="2231136"/>
            <a:ext cx="1609344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142236"/>
                </a:solidFill>
                <a:latin typeface="Microsoft YaHei"/>
              </a:rPr>
              <a:t>SAC Assist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3208" y="2578608"/>
            <a:ext cx="1609344" cy="6675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50" b="0">
                <a:solidFill>
                  <a:srgbClr val="1F2933"/>
                </a:solidFill>
                <a:latin typeface="Microsoft YaHei"/>
              </a:rPr>
              <a:t>MultiInputPolicy
输出 assist action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23760" y="2103120"/>
            <a:ext cx="1828800" cy="1234440"/>
          </a:xfrm>
          <a:prstGeom prst="roundRect">
            <a:avLst/>
          </a:prstGeom>
          <a:solidFill>
            <a:srgbClr val="F7F9FB"/>
          </a:solidFill>
          <a:ln w="12700">
            <a:solidFill>
              <a:srgbClr val="20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33488" y="2231136"/>
            <a:ext cx="1609344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142236"/>
                </a:solidFill>
                <a:latin typeface="Microsoft YaHei"/>
              </a:rPr>
              <a:t>动作融合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33488" y="2578608"/>
            <a:ext cx="1609344" cy="6675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50" b="0">
                <a:solidFill>
                  <a:srgbClr val="1F2933"/>
                </a:solidFill>
                <a:latin typeface="Microsoft YaHei"/>
              </a:rPr>
              <a:t>clip(a_h + 0.15 a_RL)
人类主导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64040" y="2103120"/>
            <a:ext cx="1828800" cy="1234440"/>
          </a:xfrm>
          <a:prstGeom prst="roundRect">
            <a:avLst/>
          </a:prstGeom>
          <a:solidFill>
            <a:srgbClr val="FBEBDA"/>
          </a:solidFill>
          <a:ln w="12700">
            <a:solidFill>
              <a:srgbClr val="E684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73767" y="2231136"/>
            <a:ext cx="1609344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142236"/>
                </a:solidFill>
                <a:latin typeface="Microsoft YaHei"/>
              </a:rPr>
              <a:t>MuJoCo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73767" y="2578608"/>
            <a:ext cx="1609344" cy="6675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50" b="0">
                <a:solidFill>
                  <a:srgbClr val="1F2933"/>
                </a:solidFill>
                <a:latin typeface="Microsoft YaHei"/>
              </a:rPr>
              <a:t>接触动力学
新状态 / reward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377440" y="2724912"/>
            <a:ext cx="365760" cy="0"/>
          </a:xfrm>
          <a:prstGeom prst="line">
            <a:avLst/>
          </a:prstGeom>
          <a:ln w="22860">
            <a:solidFill>
              <a:srgbClr val="2033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572000" y="2724912"/>
            <a:ext cx="411480" cy="0"/>
          </a:xfrm>
          <a:prstGeom prst="line">
            <a:avLst/>
          </a:prstGeom>
          <a:ln w="22860">
            <a:solidFill>
              <a:srgbClr val="2033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812280" y="2724912"/>
            <a:ext cx="411480" cy="0"/>
          </a:xfrm>
          <a:prstGeom prst="line">
            <a:avLst/>
          </a:prstGeom>
          <a:ln w="22860">
            <a:solidFill>
              <a:srgbClr val="2033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052560" y="2724912"/>
            <a:ext cx="411480" cy="0"/>
          </a:xfrm>
          <a:prstGeom prst="line">
            <a:avLst/>
          </a:prstGeom>
          <a:ln w="22860">
            <a:solidFill>
              <a:srgbClr val="2033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378440" y="3364991"/>
            <a:ext cx="0" cy="1435609"/>
          </a:xfrm>
          <a:prstGeom prst="line">
            <a:avLst/>
          </a:prstGeom>
          <a:ln w="19050">
            <a:solidFill>
              <a:srgbClr val="6F7D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1463040" y="4800600"/>
            <a:ext cx="8915400" cy="0"/>
          </a:xfrm>
          <a:prstGeom prst="line">
            <a:avLst/>
          </a:prstGeom>
          <a:ln w="19050">
            <a:solidFill>
              <a:srgbClr val="6F7D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463040" y="3364991"/>
            <a:ext cx="0" cy="1435609"/>
          </a:xfrm>
          <a:prstGeom prst="line">
            <a:avLst/>
          </a:prstGeom>
          <a:ln w="19050">
            <a:solidFill>
              <a:srgbClr val="6F7D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257800" y="4590288"/>
            <a:ext cx="15544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6F7D8C"/>
                </a:solidFill>
                <a:latin typeface="Microsoft YaHei"/>
              </a:rPr>
              <a:t>闭环反馈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0120" y="5257800"/>
            <a:ext cx="10241280" cy="731520"/>
          </a:xfrm>
          <a:prstGeom prst="roundRect">
            <a:avLst/>
          </a:prstGeom>
          <a:solidFill>
            <a:srgbClr val="142236"/>
          </a:solidFill>
          <a:ln w="12700">
            <a:solidFill>
              <a:srgbClr val="14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70432" y="5449824"/>
            <a:ext cx="98298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onsolas"/>
              </a:rPr>
              <a:t>核心设计原则：a_full = clip(a_human + assist_scale × a_assist),  assist_scale = 0.15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528816"/>
            <a:ext cx="9966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0">
                <a:solidFill>
                  <a:srgbClr val="6F7D8C"/>
                </a:solidFill>
                <a:latin typeface="Microsoft YaHei"/>
              </a:rPr>
              <a:t>Source: assistive_fetch/wrappers.py:135–155; fetch_push_wrapper.py:162–170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6F7D8C"/>
                </a:solidFill>
                <a:latin typeface="Microsoft Ya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23774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99191"/>
                </a:solidFill>
                <a:latin typeface="Microsoft YaHei"/>
              </a:rPr>
              <a:t>03 /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142236"/>
                </a:solidFill>
                <a:latin typeface="Microsoft YaHei"/>
              </a:rPr>
              <a:t>Human Intent Controller：可解释的四阶段状态机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78408"/>
            <a:ext cx="914400" cy="45720"/>
          </a:xfrm>
          <a:prstGeom prst="rect">
            <a:avLst/>
          </a:prstGeom>
          <a:solidFill>
            <a:srgbClr val="19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00200" y="914400"/>
            <a:ext cx="97840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6F7D8C"/>
                </a:solidFill>
                <a:latin typeface="Microsoft YaHei"/>
              </a:rPr>
              <a:t>先构造可用但不完美的人类基线，再让 RL 学习补偿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08760"/>
            <a:ext cx="2487168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9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719072"/>
            <a:ext cx="2157984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199191"/>
                </a:solidFill>
                <a:latin typeface="Microsoft YaHei"/>
              </a:rPr>
              <a:t>0  LIFT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194560"/>
            <a:ext cx="2157984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50" b="0">
                <a:solidFill>
                  <a:srgbClr val="1F2933"/>
                </a:solidFill>
                <a:latin typeface="Microsoft YaHei"/>
              </a:rPr>
              <a:t>抬升到安全高度
z → 0.50 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26663" y="2423160"/>
            <a:ext cx="310897" cy="0"/>
          </a:xfrm>
          <a:prstGeom prst="line">
            <a:avLst/>
          </a:prstGeom>
          <a:ln w="22860">
            <a:solidFill>
              <a:srgbClr val="6F7D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392424" y="1508760"/>
            <a:ext cx="2487168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84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57016" y="1719072"/>
            <a:ext cx="2157984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E6842D"/>
                </a:solidFill>
                <a:latin typeface="Microsoft YaHei"/>
              </a:rPr>
              <a:t>1  APPROACH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7016" y="2194560"/>
            <a:ext cx="2157984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50" b="0">
                <a:solidFill>
                  <a:srgbClr val="1F2933"/>
                </a:solidFill>
                <a:latin typeface="Microsoft YaHei"/>
              </a:rPr>
              <a:t>移动到物体后方
p_pre = p_obj − d·ê_goal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916168" y="2423160"/>
            <a:ext cx="310896" cy="0"/>
          </a:xfrm>
          <a:prstGeom prst="line">
            <a:avLst/>
          </a:prstGeom>
          <a:ln w="22860">
            <a:solidFill>
              <a:srgbClr val="6F7D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281928" y="1508760"/>
            <a:ext cx="2487168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78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719072"/>
            <a:ext cx="2157984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378E5E"/>
                </a:solidFill>
                <a:latin typeface="Microsoft YaHei"/>
              </a:rPr>
              <a:t>2  DESCEND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194560"/>
            <a:ext cx="2157984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50" b="0">
                <a:solidFill>
                  <a:srgbClr val="1F2933"/>
                </a:solidFill>
                <a:latin typeface="Microsoft YaHei"/>
              </a:rPr>
              <a:t>保持 XY 对齐
z → 0.425 m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805672" y="2423160"/>
            <a:ext cx="310896" cy="0"/>
          </a:xfrm>
          <a:prstGeom prst="line">
            <a:avLst/>
          </a:prstGeom>
          <a:ln w="22860">
            <a:solidFill>
              <a:srgbClr val="6F7D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171432" y="1508760"/>
            <a:ext cx="2487168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0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36024" y="1719072"/>
            <a:ext cx="2157984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20334B"/>
                </a:solidFill>
                <a:latin typeface="Microsoft YaHei"/>
              </a:rPr>
              <a:t>3  PUSH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36024" y="2194560"/>
            <a:ext cx="2157984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50" b="0">
                <a:solidFill>
                  <a:srgbClr val="1F2933"/>
                </a:solidFill>
                <a:latin typeface="Microsoft YaHei"/>
              </a:rPr>
              <a:t>比例推向目标
u_xy = Kp·(p_goal−p_obj)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3675887"/>
            <a:ext cx="25603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142236"/>
                </a:solidFill>
                <a:latin typeface="Microsoft YaHei"/>
              </a:rPr>
              <a:t>关键控制细节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4160520"/>
            <a:ext cx="10835640" cy="1783080"/>
          </a:xfrm>
          <a:prstGeom prst="rect">
            <a:avLst/>
          </a:prstGeom>
          <a:noFill/>
        </p:spPr>
        <p:txBody>
          <a:bodyPr wrap="square" lIns="45720" rIns="36576" tIns="27432" bIns="27432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1F2933"/>
                </a:solidFill>
                <a:latin typeface="Microsoft YaHei"/>
              </a:defRPr>
            </a:pPr>
            <a:r>
              <a:t>• behind_offset = 0.08 m：从目标反方向构造预推位置，确保从物体后方接触。</a:t>
            </a:r>
          </a:p>
          <a:p>
            <a:pPr>
              <a:spcAft>
                <a:spcPts val="900"/>
              </a:spcAft>
              <a:defRPr sz="1300">
                <a:solidFill>
                  <a:srgbClr val="1F2933"/>
                </a:solidFill>
                <a:latin typeface="Microsoft YaHei"/>
              </a:defRPr>
            </a:pPr>
            <a:r>
              <a:t>• 阈值与滞回：XY、Z 达到阈值后切换阶段；严重失配时从 PUSH 回退到 APPROACH。</a:t>
            </a:r>
          </a:p>
          <a:p>
            <a:pPr>
              <a:spcAft>
                <a:spcPts val="900"/>
              </a:spcAft>
              <a:defRPr sz="1300">
                <a:solidFill>
                  <a:srgbClr val="1F2933"/>
                </a:solidFill>
                <a:latin typeface="Microsoft YaHei"/>
              </a:defRPr>
            </a:pPr>
            <a:r>
              <a:t>• Debug 发现：behind_offset 与回退阈值冲突曾导致“刚进 PUSH 就退出”；修正后各阶段进入率接近 1.0。</a:t>
            </a:r>
          </a:p>
          <a:p>
            <a:pPr>
              <a:spcAft>
                <a:spcPts val="900"/>
              </a:spcAft>
              <a:defRPr sz="1300">
                <a:solidFill>
                  <a:srgbClr val="1F2933"/>
                </a:solidFill>
                <a:latin typeface="Microsoft YaHei"/>
              </a:defRPr>
            </a:pPr>
            <a:r>
              <a:t>• 当前局限：垂直下降可能碰到立方体边缘，造成弹起；后续应加入接触感知与连续过渡。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28816"/>
            <a:ext cx="9966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0">
                <a:solidFill>
                  <a:srgbClr val="6F7D8C"/>
                </a:solidFill>
                <a:latin typeface="Microsoft YaHei"/>
              </a:rPr>
              <a:t>Source: assistive_fetch/fetch_push_wrapper.py:64–160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6F7D8C"/>
                </a:solidFill>
                <a:latin typeface="Microsoft YaHe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23774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99191"/>
                </a:solidFill>
                <a:latin typeface="Microsoft YaHei"/>
              </a:rPr>
              <a:t>04 / RL FORMULATION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142236"/>
                </a:solidFill>
                <a:latin typeface="Microsoft YaHei"/>
              </a:rPr>
              <a:t>RL 问题建模：让策略只学习“修正量”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78408"/>
            <a:ext cx="914400" cy="45720"/>
          </a:xfrm>
          <a:prstGeom prst="rect">
            <a:avLst/>
          </a:prstGeom>
          <a:solidFill>
            <a:srgbClr val="19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00200" y="914400"/>
            <a:ext cx="97840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6F7D8C"/>
                </a:solidFill>
                <a:latin typeface="Microsoft YaHei"/>
              </a:rPr>
              <a:t>降低搜索空间、保留可解释人类意图、约束辅助权限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324612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417320"/>
            <a:ext cx="73152" cy="2423160"/>
          </a:xfrm>
          <a:prstGeom prst="rect">
            <a:avLst/>
          </a:prstGeom>
          <a:solidFill>
            <a:srgbClr val="19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545336"/>
            <a:ext cx="2926079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142236"/>
                </a:solidFill>
                <a:latin typeface="Microsoft YaHei"/>
              </a:rPr>
              <a:t>观测 sₜ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947672"/>
            <a:ext cx="2926079" cy="1783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0">
                <a:solidFill>
                  <a:srgbClr val="1F2933"/>
                </a:solidFill>
                <a:latin typeface="Microsoft YaHei"/>
              </a:rPr>
              <a:t>Fetch 原始状态
+ 当前 human action
+ 上一步 assist action
+ goal error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1417320"/>
            <a:ext cx="324612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60520" y="1417320"/>
            <a:ext cx="73152" cy="2423160"/>
          </a:xfrm>
          <a:prstGeom prst="rect">
            <a:avLst/>
          </a:prstGeom>
          <a:solidFill>
            <a:srgbClr val="E6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61688" y="1545336"/>
            <a:ext cx="2926079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142236"/>
                </a:solidFill>
                <a:latin typeface="Microsoft YaHei"/>
              </a:rPr>
              <a:t>策略输出 aᴿᴸ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1688" y="1947672"/>
            <a:ext cx="2926079" cy="1783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0">
                <a:solidFill>
                  <a:srgbClr val="1F2933"/>
                </a:solidFill>
                <a:latin typeface="Microsoft YaHei"/>
              </a:rPr>
              <a:t>4D 连续动作
[x, y, z, gripper]
经 tanh / clip 限幅
再乘 assist_scale=0.15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679" y="1417320"/>
            <a:ext cx="324612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26679" y="1417320"/>
            <a:ext cx="73152" cy="2423160"/>
          </a:xfrm>
          <a:prstGeom prst="rect">
            <a:avLst/>
          </a:prstGeom>
          <a:solidFill>
            <a:srgbClr val="378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27848" y="1545336"/>
            <a:ext cx="2926079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142236"/>
                </a:solidFill>
                <a:latin typeface="Microsoft YaHei"/>
              </a:rPr>
              <a:t>执行动作 a_full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7848" y="1947672"/>
            <a:ext cx="2926079" cy="1783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0">
                <a:solidFill>
                  <a:srgbClr val="1F2933"/>
                </a:solidFill>
                <a:latin typeface="Microsoft YaHei"/>
              </a:rPr>
              <a:t>a_full = clip(a_h + 0.15aᴿᴸ)
人类提供任务意图；
策略学习纠偏、加速和接触补偿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4224528"/>
            <a:ext cx="41148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142236"/>
                </a:solidFill>
                <a:latin typeface="Microsoft YaHei"/>
              </a:rPr>
              <a:t>为什么这种分解适合运动控制？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645152"/>
            <a:ext cx="6675120" cy="1353312"/>
          </a:xfrm>
          <a:prstGeom prst="rect">
            <a:avLst/>
          </a:prstGeom>
          <a:noFill/>
        </p:spPr>
        <p:txBody>
          <a:bodyPr wrap="square" lIns="45720" rIns="36576" tIns="27432" bIns="27432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1F2933"/>
                </a:solidFill>
                <a:latin typeface="Microsoft YaHei"/>
              </a:defRPr>
            </a:pPr>
            <a:r>
              <a:t>• 结构先验：human controller 提供方向和阶段，RL 不必从零发现完整操作策略。</a:t>
            </a:r>
          </a:p>
          <a:p>
            <a:pPr>
              <a:spcAft>
                <a:spcPts val="900"/>
              </a:spcAft>
              <a:defRPr sz="1300">
                <a:solidFill>
                  <a:srgbClr val="1F2933"/>
                </a:solidFill>
                <a:latin typeface="Microsoft YaHei"/>
              </a:defRPr>
            </a:pPr>
            <a:r>
              <a:t>• 安全边界：辅助幅值可显式限制，便于分析最大干预量。</a:t>
            </a:r>
          </a:p>
          <a:p>
            <a:pPr>
              <a:spcAft>
                <a:spcPts val="900"/>
              </a:spcAft>
              <a:defRPr sz="1300">
                <a:solidFill>
                  <a:srgbClr val="1F2933"/>
                </a:solidFill>
                <a:latin typeface="Microsoft YaHei"/>
              </a:defRPr>
            </a:pPr>
            <a:r>
              <a:t>• 可解释评估：可分别统计 human effort、assist effort、full action 与 jerk。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4315968"/>
            <a:ext cx="3246120" cy="1508760"/>
          </a:xfrm>
          <a:prstGeom prst="roundRect">
            <a:avLst/>
          </a:prstGeom>
          <a:solidFill>
            <a:srgbClr val="142236"/>
          </a:solidFill>
          <a:ln w="12700">
            <a:solidFill>
              <a:srgbClr val="14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01000" y="4526280"/>
            <a:ext cx="2880360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Microsoft YaHei"/>
              </a:rPr>
              <a:t>SAC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0" y="5047488"/>
            <a:ext cx="288036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0">
                <a:solidFill>
                  <a:srgbClr val="C9DCE4"/>
                </a:solidFill>
                <a:latin typeface="Microsoft YaHei"/>
              </a:rPr>
              <a:t>Off-policy · 连续控制
200k steps 内获得有效策略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28816"/>
            <a:ext cx="9966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0">
                <a:solidFill>
                  <a:srgbClr val="6F7D8C"/>
                </a:solidFill>
                <a:latin typeface="Microsoft YaHei"/>
              </a:rPr>
              <a:t>Source: assistive_fetch/wrappers.py:41–58, 135–155; train_assistive_fetch.py:65–78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6F7D8C"/>
                </a:solidFill>
                <a:latin typeface="Microsoft YaHe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23774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99191"/>
                </a:solidFill>
                <a:latin typeface="Microsoft YaHei"/>
              </a:rPr>
              <a:t>05 / REWARD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142236"/>
                </a:solidFill>
                <a:latin typeface="Microsoft YaHei"/>
              </a:rPr>
              <a:t>奖励设计：任务性能、辅助成本与平滑性的权衡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78408"/>
            <a:ext cx="914400" cy="45720"/>
          </a:xfrm>
          <a:prstGeom prst="rect">
            <a:avLst/>
          </a:prstGeom>
          <a:solidFill>
            <a:srgbClr val="19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00200" y="914400"/>
            <a:ext cx="97840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6F7D8C"/>
                </a:solidFill>
                <a:latin typeface="Microsoft YaHei"/>
              </a:rPr>
              <a:t>最终方案使用纯 dense SAC；移除 HER，避免自定义奖励重标不一致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10744200" cy="868680"/>
          </a:xfrm>
          <a:prstGeom prst="roundRect">
            <a:avLst/>
          </a:prstGeom>
          <a:solidFill>
            <a:srgbClr val="142236"/>
          </a:solidFill>
          <a:ln w="12700">
            <a:solidFill>
              <a:srgbClr val="14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73352"/>
            <a:ext cx="102870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onsolas"/>
              </a:rPr>
              <a:t>rₜ = −w_d ‖p_goal − p_obj‖ + b_s·𝟙_success − w_a‖a_assist‖ − w_Δ‖a_assist,t − a_assist,t−1‖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697480"/>
            <a:ext cx="2487168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2697480"/>
            <a:ext cx="73152" cy="1508760"/>
          </a:xfrm>
          <a:prstGeom prst="rect">
            <a:avLst/>
          </a:prstGeom>
          <a:solidFill>
            <a:srgbClr val="19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2825496"/>
            <a:ext cx="216712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142236"/>
                </a:solidFill>
                <a:latin typeface="Microsoft YaHei"/>
              </a:rPr>
              <a:t>距离项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3227832"/>
            <a:ext cx="2167128" cy="8686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0">
                <a:solidFill>
                  <a:srgbClr val="1F2933"/>
                </a:solidFill>
                <a:latin typeface="Microsoft YaHei"/>
              </a:rPr>
              <a:t>w_d = 1.0
每步提供方向明确的 dense 信号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47288" y="2697480"/>
            <a:ext cx="2487168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47288" y="2697480"/>
            <a:ext cx="73152" cy="1508760"/>
          </a:xfrm>
          <a:prstGeom prst="rect">
            <a:avLst/>
          </a:prstGeom>
          <a:solidFill>
            <a:srgbClr val="378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48456" y="2825496"/>
            <a:ext cx="216712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142236"/>
                </a:solidFill>
                <a:latin typeface="Microsoft YaHei"/>
              </a:rPr>
              <a:t>成功奖励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48456" y="3227832"/>
            <a:ext cx="2167128" cy="8686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0">
                <a:solidFill>
                  <a:srgbClr val="1F2933"/>
                </a:solidFill>
                <a:latin typeface="Microsoft YaHei"/>
              </a:rPr>
              <a:t>b_s = 10
强化进入 5 cm 成功区域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0216" y="2697480"/>
            <a:ext cx="2487168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0216" y="2697480"/>
            <a:ext cx="73152" cy="1508760"/>
          </a:xfrm>
          <a:prstGeom prst="rect">
            <a:avLst/>
          </a:prstGeom>
          <a:solidFill>
            <a:srgbClr val="E6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01384" y="2825496"/>
            <a:ext cx="216712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142236"/>
                </a:solidFill>
                <a:latin typeface="Microsoft YaHei"/>
              </a:rPr>
              <a:t>辅助成本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3227832"/>
            <a:ext cx="2167128" cy="8686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0">
                <a:solidFill>
                  <a:srgbClr val="1F2933"/>
                </a:solidFill>
                <a:latin typeface="Microsoft YaHei"/>
              </a:rPr>
              <a:t>w_a = 0.002–0.005
抑制无意义大幅辅助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53144" y="2697480"/>
            <a:ext cx="2487168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53144" y="2697480"/>
            <a:ext cx="73152" cy="1508760"/>
          </a:xfrm>
          <a:prstGeom prst="rect">
            <a:avLst/>
          </a:prstGeom>
          <a:solidFill>
            <a:srgbClr val="C2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54312" y="2825496"/>
            <a:ext cx="216712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142236"/>
                </a:solidFill>
                <a:latin typeface="Microsoft YaHei"/>
              </a:rPr>
              <a:t>平滑项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54312" y="3227832"/>
            <a:ext cx="2167128" cy="8686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0">
                <a:solidFill>
                  <a:srgbClr val="1F2933"/>
                </a:solidFill>
                <a:latin typeface="Microsoft YaHei"/>
              </a:rPr>
              <a:t>w_Δ = 0.3
惩罚相邻 assist 动作变化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590288"/>
            <a:ext cx="21031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142236"/>
                </a:solidFill>
                <a:latin typeface="Microsoft YaHei"/>
              </a:rPr>
              <a:t>关键迭代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956048"/>
            <a:ext cx="10744200" cy="987552"/>
          </a:xfrm>
          <a:prstGeom prst="rect">
            <a:avLst/>
          </a:prstGeom>
          <a:noFill/>
        </p:spPr>
        <p:txBody>
          <a:bodyPr wrap="square" lIns="45720" rIns="36576" tIns="27432" bIns="27432">
            <a:spAutoFit/>
          </a:bodyPr>
          <a:lstStyle/>
          <a:p>
            <a:pPr>
              <a:spcAft>
                <a:spcPts val="900"/>
              </a:spcAft>
              <a:defRPr sz="1250">
                <a:solidFill>
                  <a:srgbClr val="1F2933"/>
                </a:solidFill>
                <a:latin typeface="Microsoft YaHei"/>
              </a:defRPr>
            </a:pPr>
            <a:r>
              <a:t>• dist_progress 会发生轨迹内望远镜相消，单步信号小；改用绝对距离 −dist。</a:t>
            </a:r>
          </a:p>
          <a:p>
            <a:pPr>
              <a:spcAft>
                <a:spcPts val="900"/>
              </a:spcAft>
              <a:defRPr sz="1250">
                <a:solidFill>
                  <a:srgbClr val="1F2933"/>
                </a:solidFill>
                <a:latin typeface="Microsoft YaHei"/>
              </a:defRPr>
            </a:pPr>
            <a:r>
              <a:t>• 自定义历史相关 reward 与 HER 重标语义不一致；最终使用普通 replay buffer。</a:t>
            </a:r>
          </a:p>
          <a:p>
            <a:pPr>
              <a:spcAft>
                <a:spcPts val="900"/>
              </a:spcAft>
              <a:defRPr sz="1250">
                <a:solidFill>
                  <a:srgbClr val="1F2933"/>
                </a:solidFill>
                <a:latin typeface="Microsoft YaHei"/>
              </a:defRPr>
            </a:pPr>
            <a:r>
              <a:t>• 平滑系数提高后 jerk 下降，但成功率出现权衡；说明 reward 是多目标控制器而非单一指标。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28816"/>
            <a:ext cx="9966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0">
                <a:solidFill>
                  <a:srgbClr val="6F7D8C"/>
                </a:solidFill>
                <a:latin typeface="Microsoft YaHei"/>
              </a:rPr>
              <a:t>Source: fetch_push_wrapper.py:174–200; train_assistive_fetch.py:65–78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6F7D8C"/>
                </a:solidFill>
                <a:latin typeface="Microsoft YaHe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23774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99191"/>
                </a:solidFill>
                <a:latin typeface="Microsoft YaHei"/>
              </a:rPr>
              <a:t>06 / DEBUG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142236"/>
                </a:solidFill>
                <a:latin typeface="Microsoft YaHei"/>
              </a:rPr>
              <a:t>工程 Debug：从“不收敛”到可解释的控制闭环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78408"/>
            <a:ext cx="914400" cy="45720"/>
          </a:xfrm>
          <a:prstGeom prst="rect">
            <a:avLst/>
          </a:prstGeom>
          <a:solidFill>
            <a:srgbClr val="19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00200" y="914400"/>
            <a:ext cx="97840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6F7D8C"/>
                </a:solidFill>
                <a:latin typeface="Microsoft YaHei"/>
              </a:rPr>
              <a:t>通过 rollout 日志、阶段进入次数和 reward 分解定位问题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1600200"/>
            <a:ext cx="2514600" cy="19385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178308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C24343"/>
                </a:solidFill>
                <a:latin typeface="Microsoft YaHei"/>
              </a:rPr>
              <a:t>V1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6152" y="1755648"/>
            <a:ext cx="16002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42236"/>
                </a:solidFill>
                <a:latin typeface="Microsoft YaHei"/>
              </a:rPr>
              <a:t>单阶段 human
奖励不稳定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2578608"/>
            <a:ext cx="214884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1F2933"/>
                </a:solidFill>
                <a:latin typeface="Microsoft YaHei"/>
              </a:rPr>
              <a:t>现象：dist 无下降趋势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072384" y="2560320"/>
            <a:ext cx="310896" cy="0"/>
          </a:xfrm>
          <a:prstGeom prst="line">
            <a:avLst/>
          </a:prstGeom>
          <a:ln w="21590">
            <a:solidFill>
              <a:srgbClr val="6F7D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429000" y="1600200"/>
            <a:ext cx="2514600" cy="19385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84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93592" y="178308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E6842D"/>
                </a:solidFill>
                <a:latin typeface="Microsoft YaHei"/>
              </a:rPr>
              <a:t>V2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1755648"/>
            <a:ext cx="16002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42236"/>
                </a:solidFill>
                <a:latin typeface="Microsoft YaHei"/>
              </a:rPr>
              <a:t>两阶段 human
相位逻辑失配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2" y="2578608"/>
            <a:ext cx="214884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1F2933"/>
                </a:solidFill>
                <a:latin typeface="Microsoft YaHei"/>
              </a:rPr>
              <a:t>发现：PUSH 立即回退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71031" y="2560320"/>
            <a:ext cx="310897" cy="0"/>
          </a:xfrm>
          <a:prstGeom prst="line">
            <a:avLst/>
          </a:prstGeom>
          <a:ln w="21590">
            <a:solidFill>
              <a:srgbClr val="6F7D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327648" y="1600200"/>
            <a:ext cx="2514600" cy="19385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78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78308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378E5E"/>
                </a:solidFill>
                <a:latin typeface="Microsoft YaHei"/>
              </a:rPr>
              <a:t>V3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13448" y="1755648"/>
            <a:ext cx="16002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42236"/>
                </a:solidFill>
                <a:latin typeface="Microsoft YaHei"/>
              </a:rPr>
              <a:t>修正状态机
绝对距离 reward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578608"/>
            <a:ext cx="214884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1F2933"/>
                </a:solidFill>
                <a:latin typeface="Microsoft YaHei"/>
              </a:rPr>
              <a:t>结果：84% vs 12%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869680" y="2560320"/>
            <a:ext cx="310896" cy="0"/>
          </a:xfrm>
          <a:prstGeom prst="line">
            <a:avLst/>
          </a:prstGeom>
          <a:ln w="21590">
            <a:solidFill>
              <a:srgbClr val="6F7D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226296" y="1600200"/>
            <a:ext cx="2514600" cy="19385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9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90888" y="178308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199191"/>
                </a:solidFill>
                <a:latin typeface="Microsoft YaHei"/>
              </a:rPr>
              <a:t>V5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12096" y="1755648"/>
            <a:ext cx="16002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42236"/>
                </a:solidFill>
                <a:latin typeface="Microsoft YaHei"/>
              </a:rPr>
              <a:t>加入 jerk 统计
增大平滑正则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90888" y="2578608"/>
            <a:ext cx="214884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1F2933"/>
                </a:solidFill>
                <a:latin typeface="Microsoft YaHei"/>
              </a:rPr>
              <a:t>结果：性能/平滑权衡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3950208"/>
            <a:ext cx="25603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142236"/>
                </a:solidFill>
                <a:latin typeface="Microsoft YaHei"/>
              </a:rPr>
              <a:t>Debug 方法论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4407408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4360" y="4407408"/>
            <a:ext cx="73152" cy="1417320"/>
          </a:xfrm>
          <a:prstGeom prst="rect">
            <a:avLst/>
          </a:prstGeom>
          <a:solidFill>
            <a:srgbClr val="19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528" y="4535424"/>
            <a:ext cx="31089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142236"/>
                </a:solidFill>
                <a:latin typeface="Microsoft YaHei"/>
              </a:rPr>
              <a:t>1. 可观测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8" y="4937760"/>
            <a:ext cx="3108960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0">
                <a:solidFill>
                  <a:srgbClr val="1F2933"/>
                </a:solidFill>
                <a:latin typeface="Microsoft YaHei"/>
              </a:rPr>
              <a:t>逐步输出 dist、phase、XY/Z error、human/assist/full action norm。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70832" y="4407408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70832" y="4407408"/>
            <a:ext cx="73152" cy="1417320"/>
          </a:xfrm>
          <a:prstGeom prst="rect">
            <a:avLst/>
          </a:prstGeom>
          <a:solidFill>
            <a:srgbClr val="E6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0" y="4535424"/>
            <a:ext cx="31089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142236"/>
                </a:solidFill>
                <a:latin typeface="Microsoft YaHei"/>
              </a:rPr>
              <a:t>2. 可归因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4937760"/>
            <a:ext cx="3108960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0">
                <a:solidFill>
                  <a:srgbClr val="1F2933"/>
                </a:solidFill>
                <a:latin typeface="Microsoft YaHei"/>
              </a:rPr>
              <a:t>按 success/failure 分组，比较阶段进入次数与 reward 分项。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38160" y="4407408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138160" y="4407408"/>
            <a:ext cx="73152" cy="1417320"/>
          </a:xfrm>
          <a:prstGeom prst="rect">
            <a:avLst/>
          </a:prstGeom>
          <a:solidFill>
            <a:srgbClr val="378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39328" y="4535424"/>
            <a:ext cx="31089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142236"/>
                </a:solidFill>
                <a:latin typeface="Microsoft YaHei"/>
              </a:rPr>
              <a:t>3. 可复现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39328" y="4937760"/>
            <a:ext cx="3108960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0">
                <a:solidFill>
                  <a:srgbClr val="1F2933"/>
                </a:solidFill>
                <a:latin typeface="Microsoft YaHei"/>
              </a:rPr>
              <a:t>相同 seed 对比 model+assist 与 human-only，保存 checkpoint 与独立 eval。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528816"/>
            <a:ext cx="9966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0">
                <a:solidFill>
                  <a:srgbClr val="6F7D8C"/>
                </a:solidFill>
                <a:latin typeface="Microsoft YaHei"/>
              </a:rPr>
              <a:t>Source: debug_rollout_assistive_fetch.py; eval_assistive_fetch.py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6F7D8C"/>
                </a:solidFill>
                <a:latin typeface="Microsoft YaHe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23774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99191"/>
                </a:solidFill>
                <a:latin typeface="Microsoft YaHei"/>
              </a:rPr>
              <a:t>07 / ALGORITHM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142236"/>
                </a:solidFill>
                <a:latin typeface="Microsoft YaHei"/>
              </a:rPr>
              <a:t>算法选择：为什么当前阶段采用 SAC，而不是 PPO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78408"/>
            <a:ext cx="914400" cy="45720"/>
          </a:xfrm>
          <a:prstGeom prst="rect">
            <a:avLst/>
          </a:prstGeom>
          <a:solidFill>
            <a:srgbClr val="19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00200" y="914400"/>
            <a:ext cx="97840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6F7D8C"/>
                </a:solidFill>
                <a:latin typeface="Microsoft YaHei"/>
              </a:rPr>
              <a:t>连续动作 + 有限交互预算下，样本效率优先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828800" cy="713232"/>
          </a:xfrm>
          <a:prstGeom prst="rect">
            <a:avLst/>
          </a:prstGeom>
          <a:solidFill>
            <a:srgbClr val="142236"/>
          </a:solidFill>
          <a:ln w="12700">
            <a:solidFill>
              <a:srgbClr val="14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600200"/>
            <a:ext cx="168249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维度</a:t>
            </a:r>
          </a:p>
        </p:txBody>
      </p:sp>
      <p:sp>
        <p:nvSpPr>
          <p:cNvPr id="8" name="Rectangle 7"/>
          <p:cNvSpPr/>
          <p:nvPr/>
        </p:nvSpPr>
        <p:spPr>
          <a:xfrm>
            <a:off x="2423160" y="1417320"/>
            <a:ext cx="4434840" cy="713232"/>
          </a:xfrm>
          <a:prstGeom prst="rect">
            <a:avLst/>
          </a:prstGeom>
          <a:solidFill>
            <a:srgbClr val="142236"/>
          </a:solidFill>
          <a:ln w="12700">
            <a:solidFill>
              <a:srgbClr val="14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96312" y="1600200"/>
            <a:ext cx="428853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SAC（本项目）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0" y="1417320"/>
            <a:ext cx="4434840" cy="713232"/>
          </a:xfrm>
          <a:prstGeom prst="rect">
            <a:avLst/>
          </a:prstGeom>
          <a:solidFill>
            <a:srgbClr val="142236"/>
          </a:solidFill>
          <a:ln w="12700">
            <a:solidFill>
              <a:srgbClr val="14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31152" y="1600200"/>
            <a:ext cx="428853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PPO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2130552"/>
            <a:ext cx="1828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249424"/>
            <a:ext cx="1645920" cy="4846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50" b="1">
                <a:solidFill>
                  <a:srgbClr val="142236"/>
                </a:solidFill>
                <a:latin typeface="Microsoft YaHei"/>
              </a:rPr>
              <a:t>数据利用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23160" y="2130552"/>
            <a:ext cx="44348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14600" y="2249424"/>
            <a:ext cx="4251959" cy="4846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1F2933"/>
                </a:solidFill>
                <a:latin typeface="Microsoft YaHei"/>
              </a:rPr>
              <a:t>Off-policy，replay buffer 复用经验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0" y="2130552"/>
            <a:ext cx="44348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0" y="2249424"/>
            <a:ext cx="4251959" cy="4846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1F2933"/>
                </a:solidFill>
                <a:latin typeface="Microsoft YaHei"/>
              </a:rPr>
              <a:t>On-policy，数据使用后丢弃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2843784"/>
            <a:ext cx="1828800" cy="713232"/>
          </a:xfrm>
          <a:prstGeom prst="rect">
            <a:avLst/>
          </a:prstGeom>
          <a:solidFill>
            <a:srgbClr val="F7F9FB"/>
          </a:solidFill>
          <a:ln w="12700"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2962656"/>
            <a:ext cx="1645920" cy="4846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50" b="1">
                <a:solidFill>
                  <a:srgbClr val="142236"/>
                </a:solidFill>
                <a:latin typeface="Microsoft YaHei"/>
              </a:rPr>
              <a:t>样本效率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23160" y="2843784"/>
            <a:ext cx="4434840" cy="713232"/>
          </a:xfrm>
          <a:prstGeom prst="rect">
            <a:avLst/>
          </a:prstGeom>
          <a:solidFill>
            <a:srgbClr val="F7F9FB"/>
          </a:solidFill>
          <a:ln w="12700"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2962656"/>
            <a:ext cx="4251959" cy="4846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1F2933"/>
                </a:solidFill>
                <a:latin typeface="Microsoft YaHei"/>
              </a:rPr>
              <a:t>高；200k steps 获得有效策略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0" y="2843784"/>
            <a:ext cx="4434840" cy="713232"/>
          </a:xfrm>
          <a:prstGeom prst="rect">
            <a:avLst/>
          </a:prstGeom>
          <a:solidFill>
            <a:srgbClr val="F7F9FB"/>
          </a:solidFill>
          <a:ln w="12700"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0" y="2962656"/>
            <a:ext cx="4251959" cy="4846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1F2933"/>
                </a:solidFill>
                <a:latin typeface="Microsoft YaHei"/>
              </a:rPr>
              <a:t>通常需要更多交互样本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3557015"/>
            <a:ext cx="1828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675887"/>
            <a:ext cx="1645920" cy="4846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50" b="1">
                <a:solidFill>
                  <a:srgbClr val="142236"/>
                </a:solidFill>
                <a:latin typeface="Microsoft YaHei"/>
              </a:rPr>
              <a:t>连续控制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23160" y="3557015"/>
            <a:ext cx="44348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14600" y="3675887"/>
            <a:ext cx="4251959" cy="4846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1F2933"/>
                </a:solidFill>
                <a:latin typeface="Microsoft YaHei"/>
              </a:rPr>
              <a:t>熵正则，适合 MuJoCo 连续动作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3557015"/>
            <a:ext cx="44348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0" y="3675887"/>
            <a:ext cx="4251959" cy="4846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1F2933"/>
                </a:solidFill>
                <a:latin typeface="Microsoft YaHei"/>
              </a:rPr>
              <a:t>同样可用，但更新更保守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" y="4270248"/>
            <a:ext cx="1828800" cy="713232"/>
          </a:xfrm>
          <a:prstGeom prst="rect">
            <a:avLst/>
          </a:prstGeom>
          <a:solidFill>
            <a:srgbClr val="F7F9FB"/>
          </a:solidFill>
          <a:ln w="12700"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4389120"/>
            <a:ext cx="1645920" cy="4846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50" b="1">
                <a:solidFill>
                  <a:srgbClr val="142236"/>
                </a:solidFill>
                <a:latin typeface="Microsoft YaHei"/>
              </a:rPr>
              <a:t>时序扩展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423160" y="4270248"/>
            <a:ext cx="4434840" cy="713232"/>
          </a:xfrm>
          <a:prstGeom prst="rect">
            <a:avLst/>
          </a:prstGeom>
          <a:solidFill>
            <a:srgbClr val="F7F9FB"/>
          </a:solidFill>
          <a:ln w="12700"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514600" y="4389120"/>
            <a:ext cx="4251959" cy="4846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1F2933"/>
                </a:solidFill>
                <a:latin typeface="Microsoft YaHei"/>
              </a:rPr>
              <a:t>可用 frame stacking；SB3 无原生 recurrent SAC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0" y="4270248"/>
            <a:ext cx="4434840" cy="713232"/>
          </a:xfrm>
          <a:prstGeom prst="rect">
            <a:avLst/>
          </a:prstGeom>
          <a:solidFill>
            <a:srgbClr val="F7F9FB"/>
          </a:solidFill>
          <a:ln w="12700"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49440" y="4389120"/>
            <a:ext cx="4251959" cy="4846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1F2933"/>
                </a:solidFill>
                <a:latin typeface="Microsoft YaHei"/>
              </a:rPr>
              <a:t>RecurrentPPO 可直接接 LSTM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" y="4983480"/>
            <a:ext cx="1828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5102352"/>
            <a:ext cx="1645920" cy="4846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50" b="1">
                <a:solidFill>
                  <a:srgbClr val="142236"/>
                </a:solidFill>
                <a:latin typeface="Microsoft YaHei"/>
              </a:rPr>
              <a:t>动作平滑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423160" y="4983480"/>
            <a:ext cx="44348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514600" y="5102352"/>
            <a:ext cx="4251959" cy="4846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1F2933"/>
                </a:solidFill>
                <a:latin typeface="Microsoft YaHei"/>
              </a:rPr>
              <a:t>算法本身不保证，需显式正则/滤波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58000" y="4983480"/>
            <a:ext cx="44348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49440" y="5102352"/>
            <a:ext cx="4251959" cy="4846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1F2933"/>
                </a:solidFill>
                <a:latin typeface="Microsoft YaHei"/>
              </a:rPr>
              <a:t>同样不保证，不是换算法即可解决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77240" y="5943600"/>
            <a:ext cx="10332720" cy="502920"/>
          </a:xfrm>
          <a:prstGeom prst="roundRect">
            <a:avLst/>
          </a:prstGeom>
          <a:solidFill>
            <a:srgbClr val="DDF2F0"/>
          </a:solidFill>
          <a:ln w="12700">
            <a:solidFill>
              <a:srgbClr val="19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0120" y="6071616"/>
            <a:ext cx="9966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142236"/>
                </a:solidFill>
                <a:latin typeface="Microsoft YaHei"/>
              </a:rPr>
              <a:t>结论：当前保留 SAC；域随机化阶段优先尝试 SAC + observation history，再评估 RecurrentPPO。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6528816"/>
            <a:ext cx="9966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0">
                <a:solidFill>
                  <a:srgbClr val="6F7D8C"/>
                </a:solidFill>
                <a:latin typeface="Microsoft YaHei"/>
              </a:rPr>
              <a:t>Configuration: SAC MultiInputPolicy · γ=0.98 · τ=0.01 · batch=256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6F7D8C"/>
                </a:solidFill>
                <a:latin typeface="Microsoft YaHe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23774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99191"/>
                </a:solidFill>
                <a:latin typeface="Microsoft YaHei"/>
              </a:rPr>
              <a:t>08 /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142236"/>
                </a:solidFill>
                <a:latin typeface="Microsoft YaHei"/>
              </a:rPr>
              <a:t>定量结果：辅助策略显著提高成功率并降低最终距离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78408"/>
            <a:ext cx="914400" cy="45720"/>
          </a:xfrm>
          <a:prstGeom prst="rect">
            <a:avLst/>
          </a:prstGeom>
          <a:solidFill>
            <a:srgbClr val="19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00200" y="914400"/>
            <a:ext cx="97840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6F7D8C"/>
                </a:solidFill>
                <a:latin typeface="Microsoft YaHei"/>
              </a:rPr>
              <a:t>50 episodes 独立评估；human-only 使用零辅助动作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1325880"/>
          <a:ext cx="5440680" cy="2971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245352" y="1325880"/>
          <a:ext cx="5440680" cy="2971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77240" y="4617720"/>
            <a:ext cx="22860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800" b="1">
                <a:solidFill>
                  <a:srgbClr val="199191"/>
                </a:solidFill>
                <a:latin typeface="Microsoft YaHei"/>
              </a:rPr>
              <a:t>+72 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129783"/>
            <a:ext cx="22860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142236"/>
                </a:solidFill>
                <a:latin typeface="Microsoft YaHei"/>
              </a:rPr>
              <a:t>V3 成功率提升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477256"/>
            <a:ext cx="22860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50" b="0">
                <a:solidFill>
                  <a:srgbClr val="6F7D8C"/>
                </a:solidFill>
                <a:latin typeface="Microsoft YaHei"/>
              </a:rPr>
              <a:t>84% vs 12%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4617720"/>
            <a:ext cx="22860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800" b="1">
                <a:solidFill>
                  <a:srgbClr val="378E5E"/>
                </a:solidFill>
                <a:latin typeface="Microsoft YaHei"/>
              </a:rPr>
              <a:t>−72%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5129783"/>
            <a:ext cx="22860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142236"/>
                </a:solidFill>
                <a:latin typeface="Microsoft YaHei"/>
              </a:rPr>
              <a:t>V3 最终距离下降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5477256"/>
            <a:ext cx="22860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50" b="0">
                <a:solidFill>
                  <a:srgbClr val="6F7D8C"/>
                </a:solidFill>
                <a:latin typeface="Microsoft YaHei"/>
              </a:rPr>
              <a:t>0.0350 m vs 0.1249 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4617720"/>
            <a:ext cx="22860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800" b="1">
                <a:solidFill>
                  <a:srgbClr val="E6842D"/>
                </a:solidFill>
                <a:latin typeface="Microsoft YaHei"/>
              </a:rPr>
              <a:t>−18%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5129783"/>
            <a:ext cx="22860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142236"/>
                </a:solidFill>
                <a:latin typeface="Microsoft YaHei"/>
              </a:rPr>
              <a:t>V3 human effort 下降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5477256"/>
            <a:ext cx="22860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50" b="0">
                <a:solidFill>
                  <a:srgbClr val="6F7D8C"/>
                </a:solidFill>
                <a:latin typeface="Microsoft YaHei"/>
              </a:rPr>
              <a:t>0.1812 vs 0.2208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4617720"/>
            <a:ext cx="22860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800" b="1">
                <a:solidFill>
                  <a:srgbClr val="20334B"/>
                </a:solidFill>
                <a:latin typeface="Microsoft YaHei"/>
              </a:rPr>
              <a:t>70%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5129783"/>
            <a:ext cx="22860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142236"/>
                </a:solidFill>
                <a:latin typeface="Microsoft YaHei"/>
              </a:rPr>
              <a:t>V5 平滑正则成功率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5477256"/>
            <a:ext cx="22860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50" b="0">
                <a:solidFill>
                  <a:srgbClr val="6F7D8C"/>
                </a:solidFill>
                <a:latin typeface="Microsoft YaHei"/>
              </a:rPr>
              <a:t>性能与平滑性仍需权衡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28816"/>
            <a:ext cx="9966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0">
                <a:solidFill>
                  <a:srgbClr val="6F7D8C"/>
                </a:solidFill>
                <a:latin typeface="Microsoft YaHei"/>
              </a:rPr>
              <a:t>Source: eval_assistive_fetch.py · V3/V5 50-episode comparison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6F7D8C"/>
                </a:solidFill>
                <a:latin typeface="Microsoft YaHe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23774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99191"/>
                </a:solidFill>
                <a:latin typeface="Microsoft YaHei"/>
              </a:rPr>
              <a:t>09 / SMOOTHNESS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142236"/>
                </a:solidFill>
                <a:latin typeface="Microsoft YaHei"/>
              </a:rPr>
              <a:t>平滑性实验：显式 jerk 正则有效，但尚未解决执行抖动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78408"/>
            <a:ext cx="914400" cy="45720"/>
          </a:xfrm>
          <a:prstGeom prst="rect">
            <a:avLst/>
          </a:prstGeom>
          <a:solidFill>
            <a:srgbClr val="19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00200" y="914400"/>
            <a:ext cx="97840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6F7D8C"/>
                </a:solidFill>
                <a:latin typeface="Microsoft YaHei"/>
              </a:rPr>
              <a:t>V5：smoothness_coef = 0.3</a:t>
            </a:r>
          </a:p>
        </p:txBody>
      </p:sp>
      <p:pic>
        <p:nvPicPr>
          <p:cNvPr id="6" name="Picture 5" descr="v5_with_increased_smooth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6903720" cy="271520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699248" y="1325880"/>
            <a:ext cx="3886200" cy="4187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79" y="1554480"/>
            <a:ext cx="33832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142236"/>
                </a:solidFill>
                <a:latin typeface="Microsoft YaHei"/>
              </a:rPr>
              <a:t>独立评估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60" y="2029968"/>
            <a:ext cx="155448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800" b="1">
                <a:solidFill>
                  <a:srgbClr val="199191"/>
                </a:solidFill>
                <a:latin typeface="Microsoft YaHei"/>
              </a:rPr>
              <a:t>0.0925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2542032"/>
            <a:ext cx="15544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142236"/>
                </a:solidFill>
                <a:latin typeface="Microsoft YaHei"/>
              </a:rPr>
              <a:t>Assist jerk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2889504"/>
            <a:ext cx="15544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50" b="0">
                <a:solidFill>
                  <a:srgbClr val="6F7D8C"/>
                </a:solidFill>
                <a:latin typeface="Microsoft YaHei"/>
              </a:rPr>
              <a:t>‖Δassist‖ / step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46920" y="2029968"/>
            <a:ext cx="155448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800" b="1">
                <a:solidFill>
                  <a:srgbClr val="C24343"/>
                </a:solidFill>
                <a:latin typeface="Microsoft YaHei"/>
              </a:rPr>
              <a:t>0.1254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46920" y="2542032"/>
            <a:ext cx="15544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142236"/>
                </a:solidFill>
                <a:latin typeface="Microsoft YaHei"/>
              </a:rPr>
              <a:t>Full jerk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46920" y="2889504"/>
            <a:ext cx="15544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50" b="0">
                <a:solidFill>
                  <a:srgbClr val="6F7D8C"/>
                </a:solidFill>
                <a:latin typeface="Microsoft YaHei"/>
              </a:rPr>
              <a:t>assist-on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3246120"/>
            <a:ext cx="155448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800" b="1">
                <a:solidFill>
                  <a:srgbClr val="378E5E"/>
                </a:solidFill>
                <a:latin typeface="Microsoft YaHei"/>
              </a:rPr>
              <a:t>0.0477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3758183"/>
            <a:ext cx="15544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142236"/>
                </a:solidFill>
                <a:latin typeface="Microsoft YaHei"/>
              </a:rPr>
              <a:t>Full jerk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4105656"/>
            <a:ext cx="15544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50" b="0">
                <a:solidFill>
                  <a:srgbClr val="6F7D8C"/>
                </a:solidFill>
                <a:latin typeface="Microsoft YaHei"/>
              </a:rPr>
              <a:t>human-only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46920" y="3246120"/>
            <a:ext cx="155448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800" b="1">
                <a:solidFill>
                  <a:srgbClr val="20334B"/>
                </a:solidFill>
                <a:latin typeface="Microsoft YaHei"/>
              </a:rPr>
              <a:t>70%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46920" y="3758183"/>
            <a:ext cx="15544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142236"/>
                </a:solidFill>
                <a:latin typeface="Microsoft YaHei"/>
              </a:rPr>
              <a:t>Success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6920" y="4105656"/>
            <a:ext cx="15544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50" b="0">
                <a:solidFill>
                  <a:srgbClr val="6F7D8C"/>
                </a:solidFill>
                <a:latin typeface="Microsoft YaHei"/>
              </a:rPr>
              <a:t>assist-on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4526280"/>
            <a:ext cx="10972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42236"/>
                </a:solidFill>
                <a:latin typeface="Microsoft YaHei"/>
              </a:rPr>
              <a:t>解释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79" y="4846320"/>
            <a:ext cx="32918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1F2933"/>
                </a:solidFill>
                <a:latin typeface="Microsoft YaHei"/>
              </a:rPr>
              <a:t>解析式 human 控制天然连续；神经网络 assist 对接触和观测变化进行高频修正。当前只惩罚 Δassist，尚未直接优化 Δfull。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5715000"/>
            <a:ext cx="10972800" cy="566928"/>
          </a:xfrm>
          <a:prstGeom prst="roundRect">
            <a:avLst/>
          </a:prstGeom>
          <a:solidFill>
            <a:srgbClr val="FBEBDA"/>
          </a:solidFill>
          <a:ln w="12700">
            <a:solidFill>
              <a:srgbClr val="E684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879592"/>
            <a:ext cx="105156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142236"/>
                </a:solidFill>
                <a:latin typeface="Microsoft YaHei"/>
              </a:rPr>
              <a:t>下一步：将 full-action jerk 纳入目标，或在执行端加入可验证的低通滤波 / rate limiter。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28816"/>
            <a:ext cx="9966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0">
                <a:solidFill>
                  <a:srgbClr val="6F7D8C"/>
                </a:solidFill>
                <a:latin typeface="Microsoft YaHei"/>
              </a:rPr>
              <a:t>Note: 图标题中的“SAC+HER”为旧版 callback 文案；当前训练代码为 SAC without HER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6F7D8C"/>
                </a:solidFill>
                <a:latin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23774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99191"/>
                </a:solidFill>
                <a:latin typeface="Microsoft YaHei"/>
              </a:rPr>
              <a:t>10 /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142236"/>
                </a:solidFill>
                <a:latin typeface="Microsoft YaHei"/>
              </a:rPr>
              <a:t>下一步：从单一 Human 扩展到人群分布与鲁棒共享控制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78408"/>
            <a:ext cx="914400" cy="45720"/>
          </a:xfrm>
          <a:prstGeom prst="rect">
            <a:avLst/>
          </a:prstGeom>
          <a:solidFill>
            <a:srgbClr val="19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00200" y="914400"/>
            <a:ext cx="97840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6F7D8C"/>
                </a:solidFill>
                <a:latin typeface="Microsoft YaHei"/>
              </a:rPr>
              <a:t>目标：对不同力量、偏置、噪声和反应特性的用户自适应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1554480"/>
            <a:ext cx="25146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9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737360"/>
            <a:ext cx="384048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199191"/>
                </a:solidFill>
                <a:latin typeface="Microsoft Ya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709928"/>
            <a:ext cx="17373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42236"/>
                </a:solidFill>
                <a:latin typeface="Microsoft YaHei"/>
              </a:rPr>
              <a:t>Human 域随机化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2249424"/>
            <a:ext cx="214884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Microsoft YaHei"/>
              </a:rPr>
              <a:t>gain / bias / noise / delay
建立人群行为分布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072384" y="2359152"/>
            <a:ext cx="310896" cy="0"/>
          </a:xfrm>
          <a:prstGeom prst="line">
            <a:avLst/>
          </a:prstGeom>
          <a:ln w="21590">
            <a:solidFill>
              <a:srgbClr val="6F7D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429000" y="1554480"/>
            <a:ext cx="25146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84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75304" y="1737360"/>
            <a:ext cx="384048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E6842D"/>
                </a:solidFill>
                <a:latin typeface="Microsoft YaHe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95928" y="1709928"/>
            <a:ext cx="17373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42236"/>
                </a:solidFill>
                <a:latin typeface="Microsoft YaHei"/>
              </a:rPr>
              <a:t>时序意图估计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2" y="2249424"/>
            <a:ext cx="214884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Microsoft YaHei"/>
              </a:rPr>
              <a:t>frame stacking 或 recurrent policy
在线识别用户特征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71031" y="2359152"/>
            <a:ext cx="310897" cy="0"/>
          </a:xfrm>
          <a:prstGeom prst="line">
            <a:avLst/>
          </a:prstGeom>
          <a:ln w="21590">
            <a:solidFill>
              <a:srgbClr val="6F7D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327648" y="1554480"/>
            <a:ext cx="25146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78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3952" y="1737360"/>
            <a:ext cx="384048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378E5E"/>
                </a:solidFill>
                <a:latin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94576" y="1709928"/>
            <a:ext cx="17373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42236"/>
                </a:solidFill>
                <a:latin typeface="Microsoft YaHei"/>
              </a:rPr>
              <a:t>控制品质约束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249424"/>
            <a:ext cx="214884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Microsoft YaHei"/>
              </a:rPr>
              <a:t>full-action jerk / rate limit
接触冲击与弹起统计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869680" y="2359152"/>
            <a:ext cx="310896" cy="0"/>
          </a:xfrm>
          <a:prstGeom prst="line">
            <a:avLst/>
          </a:prstGeom>
          <a:ln w="21590">
            <a:solidFill>
              <a:srgbClr val="6F7D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226296" y="1554480"/>
            <a:ext cx="25146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0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72600" y="1737360"/>
            <a:ext cx="384048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20334B"/>
                </a:solidFill>
                <a:latin typeface="Microsoft YaHe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93224" y="1709928"/>
            <a:ext cx="17373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42236"/>
                </a:solidFill>
                <a:latin typeface="Microsoft YaHei"/>
              </a:rPr>
              <a:t>鲁棒评估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90888" y="2249424"/>
            <a:ext cx="214884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Microsoft YaHei"/>
              </a:rPr>
              <a:t>固定 seed + 分层人群测试
成功率 / effort / jerk / safety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3657600"/>
            <a:ext cx="40233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142236"/>
                </a:solidFill>
                <a:latin typeface="Microsoft YaHei"/>
              </a:rPr>
              <a:t>面向真实运动控制的补强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4114800"/>
            <a:ext cx="3401568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4360" y="4114800"/>
            <a:ext cx="73152" cy="1600200"/>
          </a:xfrm>
          <a:prstGeom prst="rect">
            <a:avLst/>
          </a:prstGeom>
          <a:solidFill>
            <a:srgbClr val="C2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528" y="4242816"/>
            <a:ext cx="308152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142236"/>
                </a:solidFill>
                <a:latin typeface="Microsoft YaHei"/>
              </a:rPr>
              <a:t>接触安全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8" y="4645152"/>
            <a:ext cx="3081528" cy="9601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0">
                <a:solidFill>
                  <a:srgbClr val="1F2933"/>
                </a:solidFill>
                <a:latin typeface="Microsoft YaHei"/>
              </a:rPr>
              <a:t>监测物体 z 速度/离桌高度，量化“边缘碰撞导致弹起”；加入冲击惩罚或接触状态机。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9120" y="4114800"/>
            <a:ext cx="3401568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89120" y="4114800"/>
            <a:ext cx="73152" cy="1600200"/>
          </a:xfrm>
          <a:prstGeom prst="rect">
            <a:avLst/>
          </a:prstGeom>
          <a:solidFill>
            <a:srgbClr val="E6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90288" y="4242816"/>
            <a:ext cx="308152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142236"/>
                </a:solidFill>
                <a:latin typeface="Microsoft YaHei"/>
              </a:rPr>
              <a:t>时域设计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90288" y="4645152"/>
            <a:ext cx="3081528" cy="9601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0">
                <a:solidFill>
                  <a:srgbClr val="1F2933"/>
                </a:solidFill>
                <a:latin typeface="Microsoft YaHei"/>
              </a:rPr>
              <a:t>评估 50→75 steps 与 γ 的配套调整；同时压缩 lift/descend 前置时间，避免仅靠延长时域。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83879" y="4114800"/>
            <a:ext cx="3401568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183879" y="4114800"/>
            <a:ext cx="73152" cy="1600200"/>
          </a:xfrm>
          <a:prstGeom prst="rect">
            <a:avLst/>
          </a:prstGeom>
          <a:solidFill>
            <a:srgbClr val="19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85048" y="4242816"/>
            <a:ext cx="308152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142236"/>
                </a:solidFill>
                <a:latin typeface="Microsoft YaHei"/>
              </a:rPr>
              <a:t>Sim-to-Real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85048" y="4645152"/>
            <a:ext cx="3081528" cy="9601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0">
                <a:solidFill>
                  <a:srgbClr val="1F2933"/>
                </a:solidFill>
                <a:latin typeface="Microsoft YaHei"/>
              </a:rPr>
              <a:t>随机化质量、摩擦、控制延迟和传感噪声；部署前增加动作限幅、watchdog 与 fallback。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528816"/>
            <a:ext cx="9966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0">
                <a:solidFill>
                  <a:srgbClr val="6F7D8C"/>
                </a:solidFill>
                <a:latin typeface="Microsoft YaHei"/>
              </a:rPr>
              <a:t>Roadmap: domain randomization → temporal adaptation → safety-constrained deployment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6F7D8C"/>
                </a:solidFill>
                <a:latin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2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384048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项目总结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234440"/>
            <a:ext cx="51206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BDD3DE"/>
                </a:solidFill>
                <a:latin typeface="Microsoft YaHei"/>
              </a:rPr>
              <a:t>从控制结构到学习闭环，我完成了：</a:t>
            </a:r>
          </a:p>
        </p:txBody>
      </p:sp>
      <p:sp>
        <p:nvSpPr>
          <p:cNvPr id="4" name="Oval 3"/>
          <p:cNvSpPr/>
          <p:nvPr/>
        </p:nvSpPr>
        <p:spPr>
          <a:xfrm>
            <a:off x="749808" y="1783080"/>
            <a:ext cx="365760" cy="365760"/>
          </a:xfrm>
          <a:prstGeom prst="ellipse">
            <a:avLst/>
          </a:prstGeom>
          <a:solidFill>
            <a:srgbClr val="19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98448" y="1764792"/>
            <a:ext cx="1828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</a:rPr>
              <a:t>控制器设计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63240" y="1764792"/>
            <a:ext cx="59893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>
                <a:solidFill>
                  <a:srgbClr val="E0E8EE"/>
                </a:solidFill>
                <a:latin typeface="Microsoft YaHei"/>
              </a:rPr>
              <a:t>基于几何关系构造预推点，设计四阶段状态机与 P 控制律。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606040"/>
            <a:ext cx="365760" cy="365760"/>
          </a:xfrm>
          <a:prstGeom prst="ellipse">
            <a:avLst/>
          </a:prstGeom>
          <a:solidFill>
            <a:srgbClr val="19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98448" y="2587752"/>
            <a:ext cx="1828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</a:rPr>
              <a:t>共享控制建模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2587752"/>
            <a:ext cx="59893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>
                <a:solidFill>
                  <a:srgbClr val="E0E8EE"/>
                </a:solidFill>
                <a:latin typeface="Microsoft YaHei"/>
              </a:rPr>
              <a:t>将 human intent 与受限 assist action 融合，保留解释性和控制权限边界。</a:t>
            </a:r>
          </a:p>
        </p:txBody>
      </p:sp>
      <p:sp>
        <p:nvSpPr>
          <p:cNvPr id="10" name="Oval 9"/>
          <p:cNvSpPr/>
          <p:nvPr/>
        </p:nvSpPr>
        <p:spPr>
          <a:xfrm>
            <a:off x="749808" y="3429000"/>
            <a:ext cx="365760" cy="365760"/>
          </a:xfrm>
          <a:prstGeom prst="ellipse">
            <a:avLst/>
          </a:prstGeom>
          <a:solidFill>
            <a:srgbClr val="19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98448" y="3410712"/>
            <a:ext cx="1828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</a:rPr>
              <a:t>RL 工程落地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3410712"/>
            <a:ext cx="59893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>
                <a:solidFill>
                  <a:srgbClr val="E0E8EE"/>
                </a:solidFill>
                <a:latin typeface="Microsoft YaHei"/>
              </a:rPr>
              <a:t>使用 SAC、dense reward、checkpoint / callback / 独立评估完成训练闭环。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4251960"/>
            <a:ext cx="365760" cy="365760"/>
          </a:xfrm>
          <a:prstGeom prst="ellipse">
            <a:avLst/>
          </a:prstGeom>
          <a:solidFill>
            <a:srgbClr val="19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98448" y="4233672"/>
            <a:ext cx="1828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</a:rPr>
              <a:t>系统化 Debug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4233672"/>
            <a:ext cx="59893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>
                <a:solidFill>
                  <a:srgbClr val="E0E8EE"/>
                </a:solidFill>
                <a:latin typeface="Microsoft YaHei"/>
              </a:rPr>
              <a:t>用逐步 rollout、phase entries、reward breakdown 定位相位与奖励问题。</a:t>
            </a:r>
          </a:p>
        </p:txBody>
      </p:sp>
      <p:sp>
        <p:nvSpPr>
          <p:cNvPr id="16" name="Oval 15"/>
          <p:cNvSpPr/>
          <p:nvPr/>
        </p:nvSpPr>
        <p:spPr>
          <a:xfrm>
            <a:off x="749808" y="5074920"/>
            <a:ext cx="365760" cy="365760"/>
          </a:xfrm>
          <a:prstGeom prst="ellipse">
            <a:avLst/>
          </a:prstGeom>
          <a:solidFill>
            <a:srgbClr val="19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98448" y="5056632"/>
            <a:ext cx="1828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</a:rPr>
              <a:t>量化验证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40" y="5056632"/>
            <a:ext cx="59893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>
                <a:solidFill>
                  <a:srgbClr val="E0E8EE"/>
                </a:solidFill>
                <a:latin typeface="Microsoft YaHei"/>
              </a:rPr>
              <a:t>最佳成功率 84% vs 12%；同时识别 jerk 与接触安全的下一阶段问题。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72600" y="1600200"/>
            <a:ext cx="2011680" cy="3474720"/>
          </a:xfrm>
          <a:prstGeom prst="roundRect">
            <a:avLst/>
          </a:prstGeom>
          <a:solidFill>
            <a:srgbClr val="20334B"/>
          </a:solidFill>
          <a:ln w="12700">
            <a:solidFill>
              <a:srgbClr val="4560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46920" y="1847088"/>
            <a:ext cx="14630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63D7CB"/>
                </a:solidFill>
                <a:latin typeface="Microsoft YaHei"/>
              </a:rPr>
              <a:t>岗位匹配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46920" y="2450592"/>
            <a:ext cx="1463040" cy="2057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>运动学几何
状态机控制
连续控制 RL
接触问题分析
实验与指标设计
工程 Debug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6263640"/>
            <a:ext cx="1828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63D7CB"/>
                </a:solidFill>
                <a:latin typeface="Microsoft YaHei"/>
              </a:rPr>
              <a:t>Q &amp; 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6309360"/>
            <a:ext cx="30175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0">
                <a:solidFill>
                  <a:srgbClr val="B5C0CC"/>
                </a:solidFill>
                <a:latin typeface="Microsoft YaHei"/>
              </a:rPr>
              <a:t>代码与结果均可现场展开讨论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23774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99191"/>
                </a:solidFill>
                <a:latin typeface="Microsoft YaHei"/>
              </a:rPr>
              <a:t>VISUALIZATION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142236"/>
                </a:solidFill>
                <a:latin typeface="Microsoft YaHei"/>
              </a:rPr>
              <a:t>V3 Visualization：辅助策略与 Human-only 对比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78408"/>
            <a:ext cx="914400" cy="45720"/>
          </a:xfrm>
          <a:prstGeom prst="rect">
            <a:avLst/>
          </a:prstGeom>
          <a:solidFill>
            <a:srgbClr val="19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00200" y="914400"/>
            <a:ext cx="97840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6F7D8C"/>
                </a:solidFill>
                <a:latin typeface="Microsoft YaHei"/>
              </a:rPr>
              <a:t>相同初始条件（seed=2）· 左：model+assist · 右：human-only · 50-step episode</a:t>
            </a:r>
          </a:p>
        </p:txBody>
      </p:sp>
      <p:pic>
        <p:nvPicPr>
          <p:cNvPr id="6" name="Picture 5" descr="v3_assist_vs_hum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98448"/>
            <a:ext cx="7818120" cy="44074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5806440"/>
            <a:ext cx="3886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6F7D8C"/>
                </a:solidFill>
                <a:latin typeface="Microsoft YaHei"/>
              </a:rPr>
              <a:t>动画在 PowerPoint 放映模式下自动播放</a:t>
            </a:r>
          </a:p>
        </p:txBody>
      </p:sp>
      <p:sp>
        <p:nvSpPr>
          <p:cNvPr id="8" name="Rounded Rectangle 7">
            <a:hlinkClick r:id="rId3"/>
          </p:cNvPr>
          <p:cNvSpPr/>
          <p:nvPr/>
        </p:nvSpPr>
        <p:spPr>
          <a:xfrm>
            <a:off x="5166360" y="5705856"/>
            <a:ext cx="2057400" cy="411480"/>
          </a:xfrm>
          <a:prstGeom prst="roundRect">
            <a:avLst/>
          </a:prstGeom>
          <a:solidFill>
            <a:srgbClr val="142236"/>
          </a:solidFill>
          <a:ln>
            <a:solidFill>
              <a:srgbClr val="14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36" b="1">
                <a:solidFill>
                  <a:srgbClr val="FFFFFF"/>
                </a:solidFill>
                <a:latin typeface="Microsoft YaHei"/>
              </a:rPr>
              <a:t>▶ 点击打开高清 MP4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13648" y="1298448"/>
            <a:ext cx="3035808" cy="44074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0" y="1572768"/>
            <a:ext cx="25146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142236"/>
                </a:solidFill>
                <a:latin typeface="Microsoft YaHei"/>
              </a:rPr>
              <a:t>代表性回合结果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23960" y="2148840"/>
            <a:ext cx="10515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300" b="1">
                <a:solidFill>
                  <a:srgbClr val="199191"/>
                </a:solidFill>
                <a:latin typeface="Microsoft YaHei"/>
              </a:rPr>
              <a:t>0.025 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96528" y="2624328"/>
            <a:ext cx="11430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378E5E"/>
                </a:solidFill>
                <a:latin typeface="Microsoft YaHei"/>
              </a:rPr>
              <a:t>model+assist
成功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95560" y="2148840"/>
            <a:ext cx="10515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300" b="1">
                <a:solidFill>
                  <a:srgbClr val="E6842D"/>
                </a:solidFill>
                <a:latin typeface="Microsoft YaHei"/>
              </a:rPr>
              <a:t>0.202 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68128" y="2624328"/>
            <a:ext cx="11430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C24343"/>
                </a:solidFill>
                <a:latin typeface="Microsoft YaHei"/>
              </a:rPr>
              <a:t>human-only
失败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51392" y="3429000"/>
            <a:ext cx="25603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851392" y="3429000"/>
            <a:ext cx="73152" cy="1143000"/>
          </a:xfrm>
          <a:prstGeom prst="rect">
            <a:avLst/>
          </a:prstGeom>
          <a:solidFill>
            <a:srgbClr val="19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60" y="3557016"/>
            <a:ext cx="2240279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142236"/>
                </a:solidFill>
                <a:latin typeface="Microsoft YaHei"/>
              </a:rPr>
              <a:t>观察重点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3959352"/>
            <a:ext cx="2240279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0">
                <a:solidFill>
                  <a:srgbClr val="1F2933"/>
                </a:solidFill>
                <a:latin typeface="Microsoft YaHei"/>
              </a:rPr>
              <a:t>比较两侧末端轨迹、进入 PUSH 的时间，以及物体到红色目标点的最终距离。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51392" y="4709160"/>
            <a:ext cx="25603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851392" y="4709160"/>
            <a:ext cx="73152" cy="777240"/>
          </a:xfrm>
          <a:prstGeom prst="rect">
            <a:avLst/>
          </a:prstGeom>
          <a:solidFill>
            <a:srgbClr val="E6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60" y="4837176"/>
            <a:ext cx="2240279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142236"/>
                </a:solidFill>
                <a:latin typeface="Microsoft YaHei"/>
              </a:rPr>
              <a:t>说明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5239512"/>
            <a:ext cx="2240279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0">
                <a:solidFill>
                  <a:srgbClr val="1F2933"/>
                </a:solidFill>
                <a:latin typeface="Microsoft YaHei"/>
              </a:rPr>
              <a:t>该回合用于定性演示；总体性能结论仍以 50-episode paired evaluation 为准。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6F7D8C"/>
                </a:solidFill>
                <a:latin typeface="Microsoft YaHei"/>
              </a:rPr>
              <a:t>09A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28816"/>
            <a:ext cx="9966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0">
                <a:solidFill>
                  <a:srgbClr val="6F7D8C"/>
                </a:solidFill>
                <a:latin typeface="Microsoft YaHei"/>
              </a:rPr>
              <a:t>Embedded GIF + external MP4: logs/assistive_fetch/visualizations/v3_assist_vs_human.mp4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23774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99191"/>
                </a:solidFill>
                <a:latin typeface="Microsoft YaHei"/>
              </a:rPr>
              <a:t>VISUALIZATION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142236"/>
                </a:solidFill>
                <a:latin typeface="Microsoft YaHei"/>
              </a:rPr>
              <a:t>V5 Visualization：辅助策略与 Human-only 对比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78408"/>
            <a:ext cx="914400" cy="45720"/>
          </a:xfrm>
          <a:prstGeom prst="rect">
            <a:avLst/>
          </a:prstGeom>
          <a:solidFill>
            <a:srgbClr val="19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00200" y="914400"/>
            <a:ext cx="97840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6F7D8C"/>
                </a:solidFill>
                <a:latin typeface="Microsoft YaHei"/>
              </a:rPr>
              <a:t>相同初始条件（seed=2）· 左：model+assist · 右：human-only · 50-step episode</a:t>
            </a:r>
          </a:p>
        </p:txBody>
      </p:sp>
      <p:pic>
        <p:nvPicPr>
          <p:cNvPr id="6" name="Picture 5" descr="v5_assist_vs_hum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98448"/>
            <a:ext cx="7818120" cy="44074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5806440"/>
            <a:ext cx="3886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6F7D8C"/>
                </a:solidFill>
                <a:latin typeface="Microsoft YaHei"/>
              </a:rPr>
              <a:t>动画在 PowerPoint 放映模式下自动播放</a:t>
            </a:r>
          </a:p>
        </p:txBody>
      </p:sp>
      <p:sp>
        <p:nvSpPr>
          <p:cNvPr id="8" name="Rounded Rectangle 7">
            <a:hlinkClick r:id="rId3"/>
          </p:cNvPr>
          <p:cNvSpPr/>
          <p:nvPr/>
        </p:nvSpPr>
        <p:spPr>
          <a:xfrm>
            <a:off x="5166360" y="5705856"/>
            <a:ext cx="2057400" cy="411480"/>
          </a:xfrm>
          <a:prstGeom prst="roundRect">
            <a:avLst/>
          </a:prstGeom>
          <a:solidFill>
            <a:srgbClr val="142236"/>
          </a:solidFill>
          <a:ln>
            <a:solidFill>
              <a:srgbClr val="14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36" b="1">
                <a:solidFill>
                  <a:srgbClr val="FFFFFF"/>
                </a:solidFill>
                <a:latin typeface="Microsoft YaHei"/>
              </a:rPr>
              <a:t>▶ 点击打开高清 MP4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13648" y="1298448"/>
            <a:ext cx="3035808" cy="44074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0" y="1572768"/>
            <a:ext cx="25146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142236"/>
                </a:solidFill>
                <a:latin typeface="Microsoft YaHei"/>
              </a:rPr>
              <a:t>代表性回合结果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23960" y="2148840"/>
            <a:ext cx="10515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300" b="1">
                <a:solidFill>
                  <a:srgbClr val="199191"/>
                </a:solidFill>
                <a:latin typeface="Microsoft YaHei"/>
              </a:rPr>
              <a:t>0.024 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96528" y="2624328"/>
            <a:ext cx="11430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378E5E"/>
                </a:solidFill>
                <a:latin typeface="Microsoft YaHei"/>
              </a:rPr>
              <a:t>model+assist
成功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95560" y="2148840"/>
            <a:ext cx="10515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300" b="1">
                <a:solidFill>
                  <a:srgbClr val="E6842D"/>
                </a:solidFill>
                <a:latin typeface="Microsoft YaHei"/>
              </a:rPr>
              <a:t>0.202 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68128" y="2624328"/>
            <a:ext cx="11430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C24343"/>
                </a:solidFill>
                <a:latin typeface="Microsoft YaHei"/>
              </a:rPr>
              <a:t>human-only
失败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51392" y="3429000"/>
            <a:ext cx="25603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851392" y="3429000"/>
            <a:ext cx="73152" cy="1143000"/>
          </a:xfrm>
          <a:prstGeom prst="rect">
            <a:avLst/>
          </a:prstGeom>
          <a:solidFill>
            <a:srgbClr val="19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60" y="3557016"/>
            <a:ext cx="2240279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142236"/>
                </a:solidFill>
                <a:latin typeface="Microsoft YaHei"/>
              </a:rPr>
              <a:t>观察重点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3959352"/>
            <a:ext cx="2240279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0">
                <a:solidFill>
                  <a:srgbClr val="1F2933"/>
                </a:solidFill>
                <a:latin typeface="Microsoft YaHei"/>
              </a:rPr>
              <a:t>比较两侧末端轨迹、进入 PUSH 的时间，以及物体到红色目标点的最终距离。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51392" y="4709160"/>
            <a:ext cx="25603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851392" y="4709160"/>
            <a:ext cx="73152" cy="777240"/>
          </a:xfrm>
          <a:prstGeom prst="rect">
            <a:avLst/>
          </a:prstGeom>
          <a:solidFill>
            <a:srgbClr val="E6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60" y="4837176"/>
            <a:ext cx="2240279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142236"/>
                </a:solidFill>
                <a:latin typeface="Microsoft YaHei"/>
              </a:rPr>
              <a:t>说明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5239512"/>
            <a:ext cx="2240279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0">
                <a:solidFill>
                  <a:srgbClr val="1F2933"/>
                </a:solidFill>
                <a:latin typeface="Microsoft YaHei"/>
              </a:rPr>
              <a:t>该回合用于定性演示；总体性能结论仍以 50-episode paired evaluation 为准。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6F7D8C"/>
                </a:solidFill>
                <a:latin typeface="Microsoft YaHei"/>
              </a:rPr>
              <a:t>09B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28816"/>
            <a:ext cx="9966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0">
                <a:solidFill>
                  <a:srgbClr val="6F7D8C"/>
                </a:solidFill>
                <a:latin typeface="Microsoft YaHei"/>
              </a:rPr>
              <a:t>Embedded GIF + external MP4: logs/assistive_fetch/visualizations/v5_assist_vs_human.mp4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基于共享控制与深度强化学习的 FetchPush 辅助操作</dc:title>
  <dc:subject>运动控制算法岗位面试项目汇报</dc:subject>
  <dc:creator>候选人</dc:creator>
  <cp:keywords>Shared Control, SAC, FetchPush, Motion Control, Reinforcement Learning</cp:keywords>
  <dc:description>Includes editable diagrams/charts plus embedded animated GIF comparisons for V3 and V5. GIFs play in slideshow mode; buttons link to MP4 files.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